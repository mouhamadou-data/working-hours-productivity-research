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3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1112" y="815429"/>
            <a:ext cx="5061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and Economic Productivity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37408" y="2110829"/>
            <a:ext cx="306903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Cross-Country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86221" y="3055590"/>
            <a:ext cx="17714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Mouhamadou SENE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12584" y="3550890"/>
            <a:ext cx="351883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Data Science &amp; Organizational Behavior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18976" y="4076551"/>
            <a:ext cx="110604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Motivation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1c51e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93540"/>
            <a:ext cx="8686800" cy="647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4904" y="208404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working more hours lead to greater economic output?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28600" y="2693640"/>
            <a:ext cx="8860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debates around the 4-day work week intensify globally, understanding the relationship between working hours and productivity becomes crucial for:</a:t>
            </a:r>
            <a:endParaRPr lang="en-US" sz="1200" dirty="0"/>
          </a:p>
        </p:txBody>
      </p:sp>
      <p:pic>
        <p:nvPicPr>
          <p:cNvPr id="7" name="Image 1" descr="/tmp/rasterized-gradient-524aa9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303240"/>
            <a:ext cx="2793950" cy="7466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6108" y="3569940"/>
            <a:ext cx="2538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Makers</a:t>
            </a:r>
            <a:endParaRPr lang="en-US" sz="1200" dirty="0"/>
          </a:p>
        </p:txBody>
      </p:sp>
      <p:pic>
        <p:nvPicPr>
          <p:cNvPr id="9" name="Image 2" descr="/tmp/rasterized-gradient-b3acbb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950" y="3303240"/>
            <a:ext cx="2793950" cy="7466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02459" y="3569940"/>
            <a:ext cx="2538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</a:t>
            </a:r>
            <a:endParaRPr lang="en-US" sz="1200" dirty="0"/>
          </a:p>
        </p:txBody>
      </p:sp>
      <p:pic>
        <p:nvPicPr>
          <p:cNvPr id="11" name="Image 3" descr="/tmp/rasterized-gradient-5f72c5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301" y="3303240"/>
            <a:ext cx="2793950" cy="7466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48809" y="3569940"/>
            <a:ext cx="25389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Economists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62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 &amp; Hypotheses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957d1b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80257"/>
            <a:ext cx="8686800" cy="582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5473" y="1751707"/>
            <a:ext cx="84330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reducing average working hours improve or harm economic productivity across countries?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2296418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64B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1500" dirty="0"/>
          </a:p>
        </p:txBody>
      </p:sp>
      <p:pic>
        <p:nvPicPr>
          <p:cNvPr id="7" name="Image 1" descr="/tmp/rasterized-gradient-230755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696468"/>
            <a:ext cx="8686800" cy="4667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0050" y="2829818"/>
            <a:ext cx="8510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</a:t>
            </a: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Countries with lower average working hours have higher GDP per hour worked</a:t>
            </a:r>
            <a:endParaRPr lang="en-US" sz="1125" dirty="0"/>
          </a:p>
        </p:txBody>
      </p:sp>
      <p:pic>
        <p:nvPicPr>
          <p:cNvPr id="9" name="Image 2" descr="/tmp/rasterized-gradient-ef6c59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296543"/>
            <a:ext cx="8686800" cy="466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0050" y="3429893"/>
            <a:ext cx="8510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</a:t>
            </a: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relationship between working hours and productivity varies by income level</a:t>
            </a:r>
            <a:endParaRPr lang="en-US" sz="1125" dirty="0"/>
          </a:p>
        </p:txBody>
      </p:sp>
      <p:pic>
        <p:nvPicPr>
          <p:cNvPr id="11" name="Image 3" descr="/tmp/rasterized-gradient-1c3374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896618"/>
            <a:ext cx="8686800" cy="4667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0050" y="4029968"/>
            <a:ext cx="8510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</a:t>
            </a: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time, countries that reduced working hours saw productivity gains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606153"/>
            <a:ext cx="8686800" cy="717947"/>
          </a:xfrm>
          <a:prstGeom prst="roundRect">
            <a:avLst>
              <a:gd name="adj" fmla="val 132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52413" y="1606153"/>
            <a:ext cx="0" cy="717947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47675" y="1739503"/>
            <a:ext cx="846220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World in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7675" y="2017514"/>
            <a:ext cx="846220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ourworldindata.org - Three Main Datasets</a:t>
            </a:r>
            <a:endParaRPr lang="en-US" sz="975" dirty="0"/>
          </a:p>
        </p:txBody>
      </p:sp>
      <p:pic>
        <p:nvPicPr>
          <p:cNvPr id="8" name="Image 0" descr="/tmp/rasterized-gradient-9ab158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457450"/>
            <a:ext cx="2806750" cy="10857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6550" y="2647950"/>
            <a:ext cx="259085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36550" y="3166021"/>
            <a:ext cx="25908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050" dirty="0"/>
          </a:p>
        </p:txBody>
      </p:sp>
      <p:pic>
        <p:nvPicPr>
          <p:cNvPr id="11" name="Image 1" descr="/tmp/rasterized-gradient-4de1b3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700" y="2457450"/>
            <a:ext cx="2806750" cy="10857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76649" y="2647950"/>
            <a:ext cx="259085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3276649" y="3166021"/>
            <a:ext cx="25908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(1990-2022)</a:t>
            </a:r>
            <a:endParaRPr lang="en-US" sz="1050" dirty="0"/>
          </a:p>
        </p:txBody>
      </p:sp>
      <p:pic>
        <p:nvPicPr>
          <p:cNvPr id="14" name="Image 2" descr="/tmp/rasterized-gradient-f226ff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799" y="2457450"/>
            <a:ext cx="2806750" cy="10857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6749" y="2647950"/>
            <a:ext cx="259085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3,213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6216749" y="3166021"/>
            <a:ext cx="25908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28600" y="3676501"/>
            <a:ext cx="2085975" cy="641896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81000" y="3809851"/>
            <a:ext cx="18167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81000" y="4025057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hours per worker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428875" y="3676501"/>
            <a:ext cx="2085975" cy="641896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2581275" y="3809851"/>
            <a:ext cx="18167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2581275" y="4025057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per hour worked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629150" y="3676501"/>
            <a:ext cx="2085975" cy="641896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781550" y="3809851"/>
            <a:ext cx="18167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 per Capita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781550" y="4025057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constant 2021 USD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829425" y="3676501"/>
            <a:ext cx="2085975" cy="641896"/>
          </a:xfrm>
          <a:prstGeom prst="roundRect">
            <a:avLst>
              <a:gd name="adj" fmla="val 11871"/>
            </a:avLst>
          </a:prstGeom>
          <a:solidFill>
            <a:srgbClr val="FFFFFF"/>
          </a:solidFill>
          <a:ln w="19050">
            <a:solidFill>
              <a:srgbClr val="E9ECE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981825" y="3809851"/>
            <a:ext cx="18167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Groups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981825" y="4025057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225"/>
              </a:spcBef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4-level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370112"/>
            <a:ext cx="88605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en-US" sz="1350" b="1" dirty="0">
                <a:solidFill>
                  <a:srgbClr val="764B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Libraries Used: 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pandas,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seaborn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scipy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statsmodels</a:t>
            </a:r>
            <a:endParaRPr lang="fr-F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28600" y="2152948"/>
            <a:ext cx="88605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b="1" dirty="0">
                <a:solidFill>
                  <a:srgbClr val="764B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Lifecycle Steps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28600" y="2507159"/>
            <a:ext cx="8686800" cy="363736"/>
          </a:xfrm>
          <a:prstGeom prst="roundRect">
            <a:avLst>
              <a:gd name="adj" fmla="val 209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7650" y="2507159"/>
            <a:ext cx="0" cy="363736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0050" y="2602409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Collection:</a:t>
            </a: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Downloaded three datasets from Our World in Data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28600" y="2928045"/>
            <a:ext cx="8686800" cy="363736"/>
          </a:xfrm>
          <a:prstGeom prst="roundRect">
            <a:avLst>
              <a:gd name="adj" fmla="val 209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650" y="2928045"/>
            <a:ext cx="0" cy="363736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0050" y="3023295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Wrangling:</a:t>
            </a: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Standardized columns, filtered 1990-2022, merged datasets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28600" y="3348930"/>
            <a:ext cx="8686800" cy="363736"/>
          </a:xfrm>
          <a:prstGeom prst="roundRect">
            <a:avLst>
              <a:gd name="adj" fmla="val 209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3348930"/>
            <a:ext cx="0" cy="363736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00050" y="344418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Feature Engineering:</a:t>
            </a: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Created income groups, log transformations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28600" y="3769816"/>
            <a:ext cx="8686800" cy="363736"/>
          </a:xfrm>
          <a:prstGeom prst="roundRect">
            <a:avLst>
              <a:gd name="adj" fmla="val 209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7650" y="3769816"/>
            <a:ext cx="0" cy="363736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00050" y="3865066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Statistical Analysis:</a:t>
            </a: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Correlation tests, ANOVA, regression models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28600" y="4190702"/>
            <a:ext cx="8686800" cy="363736"/>
          </a:xfrm>
          <a:prstGeom prst="roundRect">
            <a:avLst>
              <a:gd name="adj" fmla="val 209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47650" y="4190702"/>
            <a:ext cx="0" cy="363736"/>
          </a:xfrm>
          <a:prstGeom prst="line">
            <a:avLst/>
          </a:prstGeom>
          <a:noFill/>
          <a:ln w="38100">
            <a:solidFill>
              <a:srgbClr val="764B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00050" y="4285952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Visualization:</a:t>
            </a: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Distribution plots, scatter plots, trend analysis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0430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H1 - Working Hours vs. Productivity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62865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4051" y="1171575"/>
            <a:ext cx="833589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Plot: Working Hours vs. Labor Productivity</a:t>
            </a:r>
            <a:endParaRPr lang="en-US" sz="1200" dirty="0"/>
          </a:p>
        </p:txBody>
      </p:sp>
      <p:pic>
        <p:nvPicPr>
          <p:cNvPr id="4" name="Image 0" descr="/tmp/rasterized-gradient-23d531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63" y="819150"/>
            <a:ext cx="6039853" cy="2549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4051" y="1441996"/>
            <a:ext cx="8335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764B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(Negative Correlation with Regression Line)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141732" y="3444478"/>
            <a:ext cx="886053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5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-0.47, p &lt; 0.001</a:t>
            </a:r>
            <a:endParaRPr lang="en-US" sz="2100" dirty="0"/>
          </a:p>
        </p:txBody>
      </p:sp>
      <p:pic>
        <p:nvPicPr>
          <p:cNvPr id="8" name="Image 1" descr="/tmp/rasterized-gradient-3f81d2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893939"/>
            <a:ext cx="8686800" cy="4018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1000" y="4008239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with lower average working hours have significantly higher GDP per hour worked. The negative correlation suggests diminishing returns.</a:t>
            </a:r>
            <a:endParaRPr lang="en-US" sz="975" dirty="0"/>
          </a:p>
        </p:txBody>
      </p:sp>
      <p:pic>
        <p:nvPicPr>
          <p:cNvPr id="10" name="Image 2" descr="/tmp/rasterized-gradient-10b752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371975"/>
            <a:ext cx="8686800" cy="3905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7180" y="44672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SUPPORTED: More Hours ≠ More Output</a:t>
            </a:r>
            <a:endParaRPr lang="en-US" sz="1125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63C963D-299F-541F-3E49-ED72ABA656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900" y="847725"/>
            <a:ext cx="5918200" cy="24824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625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H2 - Moderation by Income Level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62865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56003c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916" y="755766"/>
            <a:ext cx="5903495" cy="1985098"/>
          </a:xfrm>
          <a:prstGeom prst="rect">
            <a:avLst/>
          </a:prstGeom>
        </p:spPr>
      </p:pic>
      <p:pic>
        <p:nvPicPr>
          <p:cNvPr id="6" name="Image 1" descr="/tmp/rasterized-gradient-587a96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07" y="2822062"/>
            <a:ext cx="2100263" cy="8114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3759" y="2955412"/>
            <a:ext cx="1947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Income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13759" y="3153502"/>
            <a:ext cx="194795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-0.63</a:t>
            </a:r>
            <a:endParaRPr lang="en-US" sz="1950" dirty="0"/>
          </a:p>
        </p:txBody>
      </p:sp>
      <p:pic>
        <p:nvPicPr>
          <p:cNvPr id="9" name="Image 2" descr="/tmp/rasterized-gradient-089809b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022" y="2822062"/>
            <a:ext cx="2100263" cy="8114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90174" y="2955412"/>
            <a:ext cx="1947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Lower-Middle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2490174" y="3153502"/>
            <a:ext cx="194795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</a:t>
            </a:r>
            <a:endParaRPr lang="en-US" sz="1950" dirty="0"/>
          </a:p>
        </p:txBody>
      </p:sp>
      <p:pic>
        <p:nvPicPr>
          <p:cNvPr id="12" name="Image 3" descr="/tmp/rasterized-gradient-c2b847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076" y="2819563"/>
            <a:ext cx="2100263" cy="8114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86228" y="2952913"/>
            <a:ext cx="1947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Upper-Middle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686228" y="3151003"/>
            <a:ext cx="194795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-0.20</a:t>
            </a:r>
            <a:endParaRPr lang="en-US" sz="1950" dirty="0"/>
          </a:p>
        </p:txBody>
      </p:sp>
      <p:pic>
        <p:nvPicPr>
          <p:cNvPr id="15" name="Image 4" descr="/tmp/rasterized-gradient-0cea2d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6130" y="2819563"/>
            <a:ext cx="2100263" cy="8114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82282" y="2952913"/>
            <a:ext cx="19479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Income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6882282" y="3151003"/>
            <a:ext cx="194795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-0.46</a:t>
            </a:r>
            <a:endParaRPr lang="en-US" sz="1950" dirty="0"/>
          </a:p>
        </p:txBody>
      </p:sp>
      <p:pic>
        <p:nvPicPr>
          <p:cNvPr id="18" name="Image 5" descr="/tmp/rasterized-gradient-1664d26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609" y="3709673"/>
            <a:ext cx="8686800" cy="60186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74769" y="3798688"/>
            <a:ext cx="8549640" cy="22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varies significantly by income level (ANOVA: F = 882.7, p &lt; 0.001). High-income countries show the strongest negative relationship.</a:t>
            </a:r>
            <a:endParaRPr lang="en-US" sz="1050" dirty="0"/>
          </a:p>
        </p:txBody>
      </p:sp>
      <p:pic>
        <p:nvPicPr>
          <p:cNvPr id="20" name="Image 6" descr="/tmp/rasterized-gradient-31a6b0b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4387734"/>
            <a:ext cx="8686800" cy="3905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81940" y="4448576"/>
            <a:ext cx="854964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H2 SUPPORTED: Development Level Matters</a:t>
            </a:r>
            <a:endParaRPr lang="en-US" sz="1125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DEFD976-8F16-15CD-3AB0-E9B06DA1B3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8882" y="866967"/>
            <a:ext cx="5778500" cy="1801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885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H3 - Longitudinal Trends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62865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88fd6d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022" y="723899"/>
            <a:ext cx="5863390" cy="19812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" y="2675632"/>
            <a:ext cx="8860536" cy="431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55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-0.76, p &lt; 0.001</a:t>
            </a:r>
            <a:endParaRPr lang="en-US" sz="2250" dirty="0"/>
          </a:p>
        </p:txBody>
      </p:sp>
      <p:pic>
        <p:nvPicPr>
          <p:cNvPr id="8" name="Image 1" descr="/tmp/rasterized-gradient-0ab16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144838"/>
            <a:ext cx="8686800" cy="6018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1000" y="3259138"/>
            <a:ext cx="8549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study period, global working hours decreased while productivity increased. The strong negative correlation confirms productivity gains from reduced work hours.</a:t>
            </a:r>
            <a:endParaRPr lang="en-US" sz="1050" dirty="0"/>
          </a:p>
        </p:txBody>
      </p:sp>
      <p:pic>
        <p:nvPicPr>
          <p:cNvPr id="10" name="Image 2" descr="/tmp/rasterized-gradient-28a83a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" y="3845819"/>
            <a:ext cx="8686800" cy="4018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6240" y="3960119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1990-2022 Trend:</a:t>
            </a: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working hours declined globally, yet economic output per hour worked rose consistently.</a:t>
            </a:r>
            <a:endParaRPr lang="en-US" sz="975" dirty="0"/>
          </a:p>
        </p:txBody>
      </p:sp>
      <p:pic>
        <p:nvPicPr>
          <p:cNvPr id="12" name="Image 3" descr="/tmp/rasterized-gradient-046128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" y="4344888"/>
            <a:ext cx="8686800" cy="3905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12420" y="4440138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H3 SUPPORTED: Time Reveals Gains from Reduction</a:t>
            </a:r>
            <a:endParaRPr lang="en-US" sz="1125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1315D26-C1FD-E690-1DDA-E6FC265190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856" y="777379"/>
            <a:ext cx="5727700" cy="1841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8480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Analysis (Bonus)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/tmp/rasterized-gradient-8d6cf5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28886"/>
            <a:ext cx="2806750" cy="9846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6550" y="1519386"/>
            <a:ext cx="25908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OLS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336550" y="1749772"/>
            <a:ext cx="2590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45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= 0.22</a:t>
            </a:r>
            <a:endParaRPr lang="en-US" sz="2100" dirty="0"/>
          </a:p>
        </p:txBody>
      </p:sp>
      <p:pic>
        <p:nvPicPr>
          <p:cNvPr id="7" name="Image 1" descr="/tmp/rasterized-gradient-defd70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700" y="1328886"/>
            <a:ext cx="2806750" cy="9846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6649" y="1519386"/>
            <a:ext cx="25908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OLS</a:t>
            </a:r>
            <a:endParaRPr lang="en-US" sz="975" dirty="0"/>
          </a:p>
        </p:txBody>
      </p:sp>
      <p:sp>
        <p:nvSpPr>
          <p:cNvPr id="9" name="Text 5"/>
          <p:cNvSpPr/>
          <p:nvPr/>
        </p:nvSpPr>
        <p:spPr>
          <a:xfrm>
            <a:off x="3276649" y="1749772"/>
            <a:ext cx="2590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45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= 0.85</a:t>
            </a:r>
            <a:endParaRPr lang="en-US" sz="2100" dirty="0"/>
          </a:p>
        </p:txBody>
      </p:sp>
      <p:pic>
        <p:nvPicPr>
          <p:cNvPr id="10" name="Image 2" descr="/tmp/rasterized-gradient-da0e0b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799" y="1328886"/>
            <a:ext cx="2806750" cy="9846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6749" y="1519386"/>
            <a:ext cx="25908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Log-Log Model</a:t>
            </a:r>
            <a:endParaRPr lang="en-US" sz="975" dirty="0"/>
          </a:p>
        </p:txBody>
      </p:sp>
      <p:sp>
        <p:nvSpPr>
          <p:cNvPr id="12" name="Text 7"/>
          <p:cNvSpPr/>
          <p:nvPr/>
        </p:nvSpPr>
        <p:spPr>
          <a:xfrm>
            <a:off x="6216749" y="1749772"/>
            <a:ext cx="2590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450"/>
              </a:spcBef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= 0.94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228600" y="2484983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764B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500" dirty="0"/>
          </a:p>
        </p:txBody>
      </p:sp>
      <p:pic>
        <p:nvPicPr>
          <p:cNvPr id="14" name="Image 3" descr="/tmp/rasterized-gradient-3963279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885033"/>
            <a:ext cx="8686800" cy="7048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9100" y="3037433"/>
            <a:ext cx="84719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coefficient remains negative across all models (all p &lt; 0.001), providing robust evidence that longer working hours do not translate to proportionally higher output.</a:t>
            </a:r>
            <a:endParaRPr lang="en-US" sz="1125" dirty="0"/>
          </a:p>
        </p:txBody>
      </p:sp>
      <p:pic>
        <p:nvPicPr>
          <p:cNvPr id="16" name="Image 4" descr="/tmp/rasterized-gradient-3035a3c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723233"/>
            <a:ext cx="8686800" cy="8722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150" y="3894683"/>
            <a:ext cx="84330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Elasticity Interpretation (Log-Log Model)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55473" y="4184154"/>
            <a:ext cx="84330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1% increase in working hours is associated with a 0.67% decrease in productivity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85800"/>
            <a:ext cx="8686800" cy="3810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325017"/>
            <a:ext cx="86868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95250" dist="2857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52413" y="1325017"/>
            <a:ext cx="0" cy="666750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47675" y="1458367"/>
            <a:ext cx="84622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hours does not equal more output:</a:t>
            </a: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negative relationship between working hours and labor productivity across countries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8600" y="2087017"/>
            <a:ext cx="86868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/>
          <a:effectLst>
            <a:outerShdw blurRad="95250" dist="2857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2413" y="2087017"/>
            <a:ext cx="0" cy="466725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47675" y="2220367"/>
            <a:ext cx="84622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matters:</a:t>
            </a: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High-income countries show stronger productivity gains from reduced hours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28600" y="2648992"/>
            <a:ext cx="86868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/>
          <a:effectLst>
            <a:outerShdw blurRad="95250" dist="2857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3" y="2648992"/>
            <a:ext cx="0" cy="466725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47675" y="2782342"/>
            <a:ext cx="84622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evidence:</a:t>
            </a: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 trend shows declining hours with rising productivity (1990-2022)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28600" y="3210967"/>
            <a:ext cx="8686800" cy="466725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/>
          <a:effectLst>
            <a:outerShdw blurRad="95250" dist="28575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2413" y="3210967"/>
            <a:ext cx="0" cy="466725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47675" y="3344317"/>
            <a:ext cx="84622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findings:</a:t>
            </a:r>
            <a:r>
              <a:rPr lang="en-US" sz="112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Relationship persists across multiple statistical models and specifications</a:t>
            </a:r>
            <a:endParaRPr lang="en-US" sz="1125" dirty="0"/>
          </a:p>
        </p:txBody>
      </p:sp>
      <p:pic>
        <p:nvPicPr>
          <p:cNvPr id="16" name="Image 0" descr="/tmp/rasterized-gradient-9e73aa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30092"/>
            <a:ext cx="8686800" cy="76944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55473" y="4001542"/>
            <a:ext cx="843305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Implication: Evidence supports exploring reduced work hours (4-day work week) without sacrificing economic output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6518" y="1169789"/>
            <a:ext cx="27308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225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883871" y="2179439"/>
            <a:ext cx="137610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7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008108" y="3181350"/>
            <a:ext cx="31277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Mouhamadou SENE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08108" y="3497461"/>
            <a:ext cx="31277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Data Science &amp; Organizational Behavior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08108" y="3786932"/>
            <a:ext cx="31277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595</Words>
  <Application>Microsoft Macintosh PowerPoint</Application>
  <PresentationFormat>Affichage à l'écran (16:9)</PresentationFormat>
  <Paragraphs>97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Hours and Economic Productivity</dc:title>
  <dc:subject>A Cross-Country Analysis</dc:subject>
  <dc:creator>Mouhamadou SENE</dc:creator>
  <cp:lastModifiedBy>Sene Mouhamadou</cp:lastModifiedBy>
  <cp:revision>3</cp:revision>
  <dcterms:created xsi:type="dcterms:W3CDTF">2025-12-06T16:00:28Z</dcterms:created>
  <dcterms:modified xsi:type="dcterms:W3CDTF">2025-12-08T14:41:42Z</dcterms:modified>
</cp:coreProperties>
</file>